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c0aae1f56a46dc" /><Relationship Type="http://schemas.openxmlformats.org/officeDocument/2006/relationships/extended-properties" Target="/docProps/app.xml" Id="Rc6f3ae1e66d1479a" /><Relationship Type="http://schemas.openxmlformats.org/officeDocument/2006/relationships/officeDocument" Target="/ppt/presentation.xml" Id="R3728c885f3f4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08f02e599d49b0"/>
  </p:sldMasterIdLst>
  <p:notesMasterIdLst>
    <p:notesMasterId xmlns:r="http://schemas.openxmlformats.org/officeDocument/2006/relationships" r:id="Re6a32d2d58614e75"/>
  </p:notesMasterIdLst>
  <p:sldIdLst>
    <p:sldId xmlns:r="http://schemas.openxmlformats.org/officeDocument/2006/relationships" id="256" r:id="R9734ed1191c24a07"/>
    <p:sldId xmlns:r="http://schemas.openxmlformats.org/officeDocument/2006/relationships" id="257" r:id="R07508912475a4b96"/>
    <p:sldId xmlns:r="http://schemas.openxmlformats.org/officeDocument/2006/relationships" id="258" r:id="R013dc07cd5674dd2"/>
    <p:sldId xmlns:r="http://schemas.openxmlformats.org/officeDocument/2006/relationships" id="259" r:id="R12d5f02c80824261"/>
    <p:sldId xmlns:r="http://schemas.openxmlformats.org/officeDocument/2006/relationships" id="260" r:id="Rb5d1fdd501c24db0"/>
    <p:sldId xmlns:r="http://schemas.openxmlformats.org/officeDocument/2006/relationships" id="261" r:id="R1c24e12db6854198"/>
    <p:sldId xmlns:r="http://schemas.openxmlformats.org/officeDocument/2006/relationships" id="262" r:id="R49400c01701b4700"/>
    <p:sldId xmlns:r="http://schemas.openxmlformats.org/officeDocument/2006/relationships" id="263" r:id="Rb6f58c7f507240d3"/>
    <p:sldId xmlns:r="http://schemas.openxmlformats.org/officeDocument/2006/relationships" id="264" r:id="R2ae20e471135422e"/>
    <p:sldId xmlns:r="http://schemas.openxmlformats.org/officeDocument/2006/relationships" id="265" r:id="R2d688f11a3d44b66"/>
    <p:sldId xmlns:r="http://schemas.openxmlformats.org/officeDocument/2006/relationships" id="266" r:id="R26e88c6357764d2c"/>
    <p:sldId xmlns:r="http://schemas.openxmlformats.org/officeDocument/2006/relationships" id="267" r:id="R3e581786dbbc47d3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2932fd8cef4d24" /><Relationship Type="http://schemas.openxmlformats.org/officeDocument/2006/relationships/slideMaster" Target="/ppt/slideMasters/slideMaster1.xml" Id="Rf308f02e599d49b0" /><Relationship Type="http://schemas.openxmlformats.org/officeDocument/2006/relationships/notesMaster" Target="/ppt/notesMasters/notesMaster1.xml" Id="Re6a32d2d58614e75" /><Relationship Type="http://schemas.openxmlformats.org/officeDocument/2006/relationships/presProps" Target="/ppt/presProps.xml" Id="R77bd540189ec4d96" /><Relationship Type="http://schemas.openxmlformats.org/officeDocument/2006/relationships/viewProps" Target="/ppt/viewProps.xml" Id="Rd3e7a5614c5b45a2" /><Relationship Type="http://schemas.openxmlformats.org/officeDocument/2006/relationships/tableStyles" Target="/ppt/tableStyles.xml" Id="R91493b5eb9984746" /><Relationship Type="http://schemas.openxmlformats.org/officeDocument/2006/relationships/slide" Target="/ppt/slides/slide1.xml" Id="R9734ed1191c24a07" /><Relationship Type="http://schemas.openxmlformats.org/officeDocument/2006/relationships/slide" Target="/ppt/slides/slide2.xml" Id="R07508912475a4b96" /><Relationship Type="http://schemas.openxmlformats.org/officeDocument/2006/relationships/slide" Target="/ppt/slides/slide3.xml" Id="R013dc07cd5674dd2" /><Relationship Type="http://schemas.openxmlformats.org/officeDocument/2006/relationships/slide" Target="/ppt/slides/slide4.xml" Id="R12d5f02c80824261" /><Relationship Type="http://schemas.openxmlformats.org/officeDocument/2006/relationships/slide" Target="/ppt/slides/slide5.xml" Id="Rb5d1fdd501c24db0" /><Relationship Type="http://schemas.openxmlformats.org/officeDocument/2006/relationships/slide" Target="/ppt/slides/slide6.xml" Id="R1c24e12db6854198" /><Relationship Type="http://schemas.openxmlformats.org/officeDocument/2006/relationships/slide" Target="/ppt/slides/slide7.xml" Id="R49400c01701b4700" /><Relationship Type="http://schemas.openxmlformats.org/officeDocument/2006/relationships/slide" Target="/ppt/slides/slide8.xml" Id="Rb6f58c7f507240d3" /><Relationship Type="http://schemas.openxmlformats.org/officeDocument/2006/relationships/slide" Target="/ppt/slides/slide9.xml" Id="R2ae20e471135422e" /><Relationship Type="http://schemas.openxmlformats.org/officeDocument/2006/relationships/slide" Target="/ppt/slides/slide10.xml" Id="R2d688f11a3d44b66" /><Relationship Type="http://schemas.openxmlformats.org/officeDocument/2006/relationships/slide" Target="/ppt/slides/slide11.xml" Id="R26e88c6357764d2c" /><Relationship Type="http://schemas.openxmlformats.org/officeDocument/2006/relationships/slide" Target="/ppt/slides/slide12.xml" Id="R3e581786dbbc47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3ffeba09cf40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829e7d811b4881" /><Relationship Type="http://schemas.openxmlformats.org/officeDocument/2006/relationships/notesMaster" Target="/ppt/notesMasters/notesMaster1.xml" Id="Ra0d2c5a467934b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93a773f3024ce3" /><Relationship Type="http://schemas.openxmlformats.org/officeDocument/2006/relationships/notesMaster" Target="/ppt/notesMasters/notesMaster1.xml" Id="Rbad111d701c846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22353c24ad4b20" /><Relationship Type="http://schemas.openxmlformats.org/officeDocument/2006/relationships/notesMaster" Target="/ppt/notesMasters/notesMaster1.xml" Id="Rc137581f49134d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69cb5e4b544ed" /><Relationship Type="http://schemas.openxmlformats.org/officeDocument/2006/relationships/notesMaster" Target="/ppt/notesMasters/notesMaster1.xml" Id="Re99661344bca4f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c5abaecd424757" /><Relationship Type="http://schemas.openxmlformats.org/officeDocument/2006/relationships/notesMaster" Target="/ppt/notesMasters/notesMaster1.xml" Id="R776be197f7104d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401fc0f13047cb" /><Relationship Type="http://schemas.openxmlformats.org/officeDocument/2006/relationships/notesMaster" Target="/ppt/notesMasters/notesMaster1.xml" Id="Rf3d6795243aa49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c7437e55424bdd" /><Relationship Type="http://schemas.openxmlformats.org/officeDocument/2006/relationships/notesMaster" Target="/ppt/notesMasters/notesMaster1.xml" Id="Rcdb24a8e3afd4d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e1b55b92b94271" /><Relationship Type="http://schemas.openxmlformats.org/officeDocument/2006/relationships/notesMaster" Target="/ppt/notesMasters/notesMaster1.xml" Id="Rc9c199564f434c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a564bb9ebf46cb" /><Relationship Type="http://schemas.openxmlformats.org/officeDocument/2006/relationships/notesMaster" Target="/ppt/notesMasters/notesMaster1.xml" Id="R5bff9385644240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dd687adc184a11" /><Relationship Type="http://schemas.openxmlformats.org/officeDocument/2006/relationships/notesMaster" Target="/ppt/notesMasters/notesMaster1.xml" Id="Rf1b57061f03d40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13d98dbd0d4cda" /><Relationship Type="http://schemas.openxmlformats.org/officeDocument/2006/relationships/notesMaster" Target="/ppt/notesMasters/notesMaster1.xml" Id="Rbb673c2f952e4d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c4938dddf0499b" /><Relationship Type="http://schemas.openxmlformats.org/officeDocument/2006/relationships/notesMaster" Target="/ppt/notesMasters/notesMaster1.xml" Id="Rc0953d20505b4b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8370233d94a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53d1db829a43b2" /><Relationship Type="http://schemas.openxmlformats.org/officeDocument/2006/relationships/slideLayout" Target="/ppt/slideLayouts/slideLayout1.xml" Id="R198f58bc5cfb41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8f58bc5cfb41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bbd7736a64be2" /><Relationship Type="http://schemas.openxmlformats.org/officeDocument/2006/relationships/image" Target="/ppt/media/image.png" Id="Rc84e1193ec47485f" /><Relationship Type="http://schemas.openxmlformats.org/officeDocument/2006/relationships/notesSlide" Target="/ppt/notesSlides/notesSlide1.xml" Id="R479f6eb99ea54d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63a4faa4847ee" /><Relationship Type="http://schemas.openxmlformats.org/officeDocument/2006/relationships/image" Target="/ppt/media/image2.png" Id="R8f7bbf98d0604299" /><Relationship Type="http://schemas.openxmlformats.org/officeDocument/2006/relationships/image" Target="/ppt/media/image3.png" Id="R70aa8ec7b33440e6" /><Relationship Type="http://schemas.openxmlformats.org/officeDocument/2006/relationships/notesSlide" Target="/ppt/notesSlides/notesSlide2.xml" Id="R9373c298e4dd4c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38a97f1ef47ec" /><Relationship Type="http://schemas.openxmlformats.org/officeDocument/2006/relationships/notesSlide" Target="/ppt/notesSlides/notesSlide3.xml" Id="Rf379533be9054e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27f428bcd4066" /><Relationship Type="http://schemas.openxmlformats.org/officeDocument/2006/relationships/image" Target="/ppt/media/image4.png" Id="R1421b4b4414a48eb" /><Relationship Type="http://schemas.openxmlformats.org/officeDocument/2006/relationships/image" Target="/ppt/media/image5.png" Id="R2456e54790ae4a4a" /><Relationship Type="http://schemas.openxmlformats.org/officeDocument/2006/relationships/image" Target="/ppt/media/image6.png" Id="Rbab77ca5257c4f4a" /><Relationship Type="http://schemas.openxmlformats.org/officeDocument/2006/relationships/notesSlide" Target="/ppt/notesSlides/notesSlide4.xml" Id="R6378f90bda3f4c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3e80b570b4275" /><Relationship Type="http://schemas.openxmlformats.org/officeDocument/2006/relationships/image" Target="/ppt/media/image7.png" Id="Rb88c3fc9a7584bba" /><Relationship Type="http://schemas.openxmlformats.org/officeDocument/2006/relationships/notesSlide" Target="/ppt/notesSlides/notesSlide5.xml" Id="R89b525c22c954d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504ff1e22408a" /><Relationship Type="http://schemas.openxmlformats.org/officeDocument/2006/relationships/notesSlide" Target="/ppt/notesSlides/notesSlide6.xml" Id="Rb9c39753339e46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bed0b2dd14b31" /><Relationship Type="http://schemas.openxmlformats.org/officeDocument/2006/relationships/notesSlide" Target="/ppt/notesSlides/notesSlide7.xml" Id="Rb5e79f75107046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f0c617b714713" /><Relationship Type="http://schemas.openxmlformats.org/officeDocument/2006/relationships/image" Target="/ppt/media/image8.png" Id="Rc1153bb1f62449c8" /><Relationship Type="http://schemas.openxmlformats.org/officeDocument/2006/relationships/image" Target="/ppt/media/image9.png" Id="R44b5868472074ad6" /><Relationship Type="http://schemas.openxmlformats.org/officeDocument/2006/relationships/image" Target="/ppt/media/image10.png" Id="Rdc033e424899413b" /><Relationship Type="http://schemas.openxmlformats.org/officeDocument/2006/relationships/notesSlide" Target="/ppt/notesSlides/notesSlide8.xml" Id="R84aa473454ff4c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191e5ec8943b1" /><Relationship Type="http://schemas.openxmlformats.org/officeDocument/2006/relationships/image" Target="/ppt/media/image11.png" Id="R89bc389741f74780" /><Relationship Type="http://schemas.openxmlformats.org/officeDocument/2006/relationships/image" Target="/ppt/media/image12.png" Id="R1c99c7a54fe9402b" /><Relationship Type="http://schemas.openxmlformats.org/officeDocument/2006/relationships/image" Target="/ppt/media/image13.png" Id="R9297906971cf42f9" /><Relationship Type="http://schemas.openxmlformats.org/officeDocument/2006/relationships/image" Target="/ppt/media/image14.png" Id="R25c2b4e5423f46bd" /><Relationship Type="http://schemas.openxmlformats.org/officeDocument/2006/relationships/notesSlide" Target="/ppt/notesSlides/notesSlide9.xml" Id="R947ae10b578842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ac0e91d494863" /><Relationship Type="http://schemas.openxmlformats.org/officeDocument/2006/relationships/image" Target="/ppt/media/image15.png" Id="R8779f857530547d1" /><Relationship Type="http://schemas.openxmlformats.org/officeDocument/2006/relationships/notesSlide" Target="/ppt/notesSlides/notesSlide10.xml" Id="R7eeb391de47e4e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0180fcf394d29" /><Relationship Type="http://schemas.openxmlformats.org/officeDocument/2006/relationships/image" Target="/ppt/media/image16.png" Id="Rab6c3419bde24456" /><Relationship Type="http://schemas.openxmlformats.org/officeDocument/2006/relationships/image" Target="/ppt/media/image17.png" Id="R16bbe4414a9b41fe" /><Relationship Type="http://schemas.openxmlformats.org/officeDocument/2006/relationships/image" Target="/ppt/media/image18.png" Id="R8302eda90c74462d" /><Relationship Type="http://schemas.openxmlformats.org/officeDocument/2006/relationships/image" Target="/ppt/media/image19.png" Id="R4b92aaedf6e143df" /><Relationship Type="http://schemas.openxmlformats.org/officeDocument/2006/relationships/image" Target="/ppt/media/image20.png" Id="R06a471fa9dab4a5e" /><Relationship Type="http://schemas.openxmlformats.org/officeDocument/2006/relationships/notesSlide" Target="/ppt/notesSlides/notesSlide11.xml" Id="R0673771f05d64f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a417a22594c71" /><Relationship Type="http://schemas.openxmlformats.org/officeDocument/2006/relationships/image" Target="/ppt/media/image21.png" Id="R37ffaba69cbe46ef" /><Relationship Type="http://schemas.openxmlformats.org/officeDocument/2006/relationships/notesSlide" Target="/ppt/notesSlides/notesSlide12.xml" Id="R8b5b6de8b08240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050A4-F7D2-4D33-B371-2FEABD78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e1193ec47485f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26A2F-B4E5-44CB-8AA0-D2CB9208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C18">
              <a:alpha val="55000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64760-4CBE-4C63-AAD1-88A4162D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8FFF9"/>
                </a:solidFill>
              </a:defRPr>
            </a:pPr>
            <a:r>
              <a:t>JADE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6A7D3-8E7C-4B8E-A7DC-4FE60D75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1E8"/>
                </a:solidFill>
              </a:defRPr>
            </a:pPr>
            <a:r>
              <a:t>中式神话 2D 平台跳跃原型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64320-21DE-4681-B323-391057F7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9BD"/>
                </a:solidFill>
              </a:defRPr>
            </a:pPr>
            <a:r>
              <a:t>Unity / 课程答辩 / 简约技术展示版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021AF-D563-48ED-BDC4-EE084DCB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</p:spTree>
    <p:extLst>
      <p:ext uri="{BB962C8B-B14F-4D97-AF65-F5344CB8AC3E}">
        <p14:creationId xmlns:p14="http://schemas.microsoft.com/office/powerpoint/2010/main" val="422567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A5AA03-25DA-46CB-8DEB-305DB549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bbf98d0604299"/>
          <a:stretch xmlns:a="http://schemas.openxmlformats.org/drawingml/2006/main"/>
        </p:blipFill>
        <p:spPr>
          <a:xfrm xmlns:a="http://schemas.openxmlformats.org/drawingml/2006/main">
            <a:off x="0" y="0"/>
            <a:ext cx="93345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1BCE7-219B-4BA2-8E3C-90C1057E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B18">
              <a:alpha val="18000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A9692-C642-4797-8D0F-80E19D54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a8ec7b33440e6"/>
          <a:stretch xmlns:a="http://schemas.openxmlformats.org/drawingml/2006/main"/>
        </p:blipFill>
        <p:spPr>
          <a:xfrm xmlns:a="http://schemas.openxmlformats.org/drawingml/2006/main">
            <a:off x="0" y="0"/>
            <a:ext cx="49530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0B55E-94D4-473A-9EF8-03749C2F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FF9"/>
                </a:solidFill>
              </a:defRPr>
            </a:pPr>
            <a:r>
              <a:t>Jade 是一款中式神话题材的 Unity 2D 平台跳跃原型。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194C8-C7F4-4CE0-839C-F1136D0A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F8DA7-6503-4BE6-B20D-56117BBA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山海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19C85-911A-4552-9D3A-109712C1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CA6DD-E126-4314-8437-77A41394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灵玉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4D545-5E2B-45BD-B6AD-5160DD68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E8309-2612-45F8-BCEF-7C318D6D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水墨剪影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57AAB-6E09-4024-9749-0484F271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311C0-8708-4152-8BAF-E84CABE8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可玩原型</a:t>
            </a:r>
          </a:p>
        </p:txBody>
      </p:sp>
    </p:spTree>
    <p:extLst>
      <p:ext uri="{BB962C8B-B14F-4D97-AF65-F5344CB8AC3E}">
        <p14:creationId xmlns:p14="http://schemas.microsoft.com/office/powerpoint/2010/main" val="13627304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FCE3A8-C71A-4018-914D-D7DEE115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CE0E3-68FC-48F3-80C4-F89FC0D4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FROM FEEL TO PLAYABLE LEVEL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AAD53-6FCC-4901-9D87-46578236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FF9"/>
                </a:solidFill>
              </a:defRPr>
            </a:pPr>
            <a:r>
              <a:t>开发路线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A2335-373E-4F7A-8985-F31271EB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98281-3B57-4959-B462-D96224BF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62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D52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5B818-B1B1-4721-B7C2-DC59D808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302D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A1F08-3FDC-4DF1-B191-0E4CAC9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6C8"/>
          </a:solidFill>
          <a:ln xmlns:a="http://schemas.openxmlformats.org/drawingml/2006/main" w="9525">
            <a:solidFill>
              <a:srgbClr val="45E6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4ADD42-4813-418A-99B7-9DA5B4B1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Phase01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48BE4-412C-45CC-8B98-F8E3C806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FF9"/>
                </a:solidFill>
              </a:defRPr>
            </a:pPr>
            <a:r>
              <a:t>手感原型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97346-324B-4DAA-9114-2AFE7537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9BD"/>
                </a:solidFill>
              </a:defRPr>
            </a:pPr>
            <a:r>
              <a:t>跑、跳、镜头、复位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AD2ED-BAE5-4BDA-9E64-BDD58861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302D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59FAB-4668-414F-9DF3-DE91A5D2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6C8"/>
          </a:solidFill>
          <a:ln xmlns:a="http://schemas.openxmlformats.org/drawingml/2006/main" w="9525">
            <a:solidFill>
              <a:srgbClr val="45E6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D52FA-AD3F-45EE-B210-8AD77757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Phase02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9CCF9-7CB0-41CE-A567-E6CF6904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FF9"/>
                </a:solidFill>
              </a:defRPr>
            </a:pPr>
            <a:r>
              <a:t>灰盒关卡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CDEA9-871D-490C-8DA5-D715441F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9BD"/>
                </a:solidFill>
              </a:defRPr>
            </a:pPr>
            <a:r>
              <a:t>路线节奏与检查点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69ED5-B19F-4D4C-9203-70B74F3E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23D37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E17DF-383F-4999-99A3-1481ED22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6C8"/>
          </a:solidFill>
          <a:ln xmlns:a="http://schemas.openxmlformats.org/drawingml/2006/main" w="9525">
            <a:solidFill>
              <a:srgbClr val="45E6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40CC5-3A45-4BEA-BA26-B7563351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Phase04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2EDBD-A1B4-4EA1-B5E9-1ECF59D9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FF9"/>
                </a:solidFill>
              </a:defRPr>
            </a:pPr>
            <a:r>
              <a:t>可玩关卡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FA6380-1061-4715-B57B-62C978DE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9BD"/>
                </a:solidFill>
              </a:defRPr>
            </a:pPr>
            <a:r>
              <a:t>Dash / Double Jump 教学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679F6-0A20-4E31-94D1-2DEA237E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302D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E52E4-9163-4918-B84E-5EF511AF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E6C8"/>
          </a:solidFill>
          <a:ln xmlns:a="http://schemas.openxmlformats.org/drawingml/2006/main" w="9525">
            <a:solidFill>
              <a:srgbClr val="45E6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FE376-2E43-49C2-9032-C13859ED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ShanhaiGate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5BC02-AEB7-499F-AFA6-DC194166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FF9"/>
                </a:solidFill>
              </a:defRPr>
            </a:pPr>
            <a:r>
              <a:t>场景落地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1DCB7F-7D5E-4208-9383-3E3040C8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9BD"/>
                </a:solidFill>
              </a:defRPr>
            </a:pPr>
            <a:r>
              <a:t>山海门与洞穴串联</a:t>
            </a:r>
          </a:p>
        </p:txBody>
      </p:sp>
    </p:spTree>
    <p:extLst>
      <p:ext uri="{BB962C8B-B14F-4D97-AF65-F5344CB8AC3E}">
        <p14:creationId xmlns:p14="http://schemas.microsoft.com/office/powerpoint/2010/main" val="15331957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7B9432-EC6F-45C4-9F75-1EC8030A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93089-19A6-4348-9159-FF84A0D5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PLAYABLE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85DF8-EEF7-4132-A01A-EAE7C3F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FF9"/>
                </a:solidFill>
              </a:defRPr>
            </a:pPr>
            <a:r>
              <a:t>核心玩法展示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F4F1C-133E-4716-8D69-349A991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1b4b4414a48eb"/>
          <a:stretch xmlns:a="http://schemas.openxmlformats.org/drawingml/2006/main"/>
        </p:blipFill>
        <p:spPr>
          <a:xfrm xmlns:a="http://schemas.openxmlformats.org/drawingml/2006/main">
            <a:off x="0" y="0"/>
            <a:ext cx="6572250" cy="4191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6e54790ae4a4a"/>
          <a:stretch xmlns:a="http://schemas.openxmlformats.org/drawingml/2006/main"/>
        </p:blipFill>
        <p:spPr>
          <a:xfrm xmlns:a="http://schemas.openxmlformats.org/drawingml/2006/main">
            <a:off x="0" y="0"/>
            <a:ext cx="5810250" cy="20955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77ca5257c4f4a"/>
          <a:stretch xmlns:a="http://schemas.openxmlformats.org/drawingml/2006/main"/>
        </p:blipFill>
        <p:spPr>
          <a:xfrm xmlns:a="http://schemas.openxmlformats.org/drawingml/2006/main">
            <a:off x="0" y="0"/>
            <a:ext cx="5810250" cy="1847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044A1-4FF4-48CC-8D91-63E38771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CD89D-D106-4D3B-B80D-524237D4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移动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75720-1B6D-409C-BB03-685D8D9D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7EA40-DEF4-4F07-B24A-F912CB03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跳跃容错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F617E-8C3F-484D-B8E2-00F5D207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53F0E-212F-4BEF-95EA-3FD6950A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检查点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47D36-D330-40B2-AB7C-A96158B6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9D9F1-1CC5-4671-8192-CCE74750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掉落复位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F701D-D4AB-4338-9C01-4A340D22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F1E8"/>
                </a:solidFill>
              </a:defRPr>
            </a:pPr>
            <a:r>
              <a:t>用小规模可玩关卡先验证操作节奏，再替换正式美术。</a:t>
            </a:r>
          </a:p>
        </p:txBody>
      </p:sp>
    </p:spTree>
    <p:extLst>
      <p:ext uri="{BB962C8B-B14F-4D97-AF65-F5344CB8AC3E}">
        <p14:creationId xmlns:p14="http://schemas.microsoft.com/office/powerpoint/2010/main" val="2056631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5C38B1-9B38-44F1-AACE-F375CD8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9022E-67BC-4BD0-957F-909C6E51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PlayerMotor2D.cs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CF030-6D7F-4CB9-BEBC-858940B4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FF9"/>
                </a:solidFill>
              </a:defRPr>
            </a:pPr>
            <a:r>
              <a:t>玩家移动系统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B12C8-CC44-4FCD-A6C0-DF8444D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E5A41-2A9D-49DF-A6EA-FD9DE3EA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85825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07181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D3487-6C10-403E-98DF-2B99D0E6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858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292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9D480-40F6-4538-99E8-B6937C88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1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E6C8"/>
                </a:solidFill>
              </a:defRPr>
            </a:pPr>
            <a:r>
              <a:t>PlayerMotor2D.cs / jump buffer + coyote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36FE5-30EF-4222-80C8-541BEB5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439150" cy="516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private void UpdateTimers()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if (!isGrounded) coyoteCounter -= Time.fixedDeltaTime;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if (jumpBufferCounter &gt; 0f) jumpBufferCounter -= Time.fixedDeltaTime;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if (input.ConsumeJumpPressed())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jumpBufferCounter = settings.jumpBufferTime;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private void HandleJumpInput()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if (jumpBufferCounter &gt; 0f &amp;&amp; coyoteCounter &gt; 0f)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body.velocity = new Vector2(body.velocity.x, jumpVelocity);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jumpBufferCounter = 0f;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coyoteCounter = 0f;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jumpedThisFrame = true;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c3fc9a7584bba"/>
          <a:stretch xmlns:a="http://schemas.openxmlformats.org/drawingml/2006/main"/>
        </p:blipFill>
        <p:spPr>
          <a:xfrm xmlns:a="http://schemas.openxmlformats.org/drawingml/2006/main">
            <a:off x="0" y="0"/>
            <a:ext cx="3524250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4CBA0-7E31-40FA-935B-ABE98450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09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D979A-A05C-411A-96C8-BCF13365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响应快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4043F-F79D-4958-A527-B247D884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09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F19EF-E05D-4804-9B8B-4ACDF28E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可调参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79F77-93B5-4B92-96D8-C58F52D1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00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5FFA8-3196-483C-89DD-34979568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容错手感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9222E-E050-4AD9-A98D-AD8B0C15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1E8"/>
                </a:solidFill>
              </a:defRPr>
            </a:pPr>
            <a:r>
              <a:t>土狼时间和跳跃缓存让平台边缘操作更友好。</a:t>
            </a:r>
          </a:p>
        </p:txBody>
      </p:sp>
    </p:spTree>
    <p:extLst>
      <p:ext uri="{BB962C8B-B14F-4D97-AF65-F5344CB8AC3E}">
        <p14:creationId xmlns:p14="http://schemas.microsoft.com/office/powerpoint/2010/main" val="19827549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90EA1B-CF85-434C-9DA5-9CA63A94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70A4B-B395-4CB8-9B47-CFB52B3C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PlayerMovementSettings.cs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41F3E-59C1-4CF4-8F28-82B3E875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FF9"/>
                </a:solidFill>
              </a:defRPr>
            </a:pPr>
            <a:r>
              <a:t>移动参数配置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9CCA0-A16E-4CE7-B271-D1D68331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0BC88-2E52-489A-B277-02FB773B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24650" cy="5905500"/>
          </a:xfrm>
          <a:prstGeom xmlns:a="http://schemas.openxmlformats.org/drawingml/2006/main" prst="roundRect">
            <a:avLst>
              <a:gd name="adj" fmla="val 1290"/>
            </a:avLst>
          </a:prstGeom>
          <a:solidFill xmlns:a="http://schemas.openxmlformats.org/drawingml/2006/main">
            <a:srgbClr val="07181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2690F-A203-4CEA-9343-A63705C7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24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292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0705E-F4ED-41BD-8783-E519662A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E6C8"/>
                </a:solidFill>
              </a:defRPr>
            </a:pPr>
            <a:r>
              <a:t>ScriptableObject / tunable movement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09F52-9D55-4C4E-96E5-38E87856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05550" cy="525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[CreateAssetMenu(menuName = "Jade/Player Movement Settings")]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public class PlayerMovementSettings : ScriptableObject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public float maxRunSpeed = 8f;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public float jumpHeight = 4.2f;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public float coyoteTime = 0.08f;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public float jumpBufferTime = 0.12f;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public float dashSpeed = 15f;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public float dashDuration = 0.26f;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public int airDashCount = 1;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64DB9-B4F2-49CD-8FCE-1359B884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D342F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CD710-6B8B-49FB-A639-8D821B4D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FF9"/>
                </a:solidFill>
              </a:defRPr>
            </a:pPr>
            <a:r>
              <a:t>关键参数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376B7-DD6C-487E-8308-D758442E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7FFF2"/>
                </a:solidFill>
              </a:defRPr>
            </a:pPr>
            <a:r>
              <a:t>maxRunSpeed        8</a:t>
            </a:r>
          </a:p>
          <a:p xmlns:a="http://schemas.openxmlformats.org/drawingml/2006/main">
            <a:pPr>
              <a:defRPr sz="2100" b="0">
                <a:solidFill>
                  <a:srgbClr val="D7FFF2"/>
                </a:solidFill>
              </a:defRPr>
            </a:pPr>
            <a:r>
              <a:t>jumpHeight         4.2</a:t>
            </a:r>
          </a:p>
          <a:p xmlns:a="http://schemas.openxmlformats.org/drawingml/2006/main">
            <a:pPr>
              <a:defRPr sz="2100" b="0">
                <a:solidFill>
                  <a:srgbClr val="D7FFF2"/>
                </a:solidFill>
              </a:defRPr>
            </a:pPr>
            <a:r>
              <a:t>coyoteTime         0.08</a:t>
            </a:r>
          </a:p>
          <a:p xmlns:a="http://schemas.openxmlformats.org/drawingml/2006/main">
            <a:pPr>
              <a:defRPr sz="2100" b="0">
                <a:solidFill>
                  <a:srgbClr val="D7FFF2"/>
                </a:solidFill>
              </a:defRPr>
            </a:pPr>
            <a:r>
              <a:t>jumpBufferTime     0.12</a:t>
            </a:r>
          </a:p>
          <a:p xmlns:a="http://schemas.openxmlformats.org/drawingml/2006/main">
            <a:pPr>
              <a:defRPr sz="2100" b="0">
                <a:solidFill>
                  <a:srgbClr val="D7FFF2"/>
                </a:solidFill>
              </a:defRPr>
            </a:pPr>
            <a:r>
              <a:t>dashSpeed         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38E04-CE87-4A9D-BFED-0F1BB86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F1E8"/>
                </a:solidFill>
              </a:defRPr>
            </a:pPr>
            <a:r>
              <a:t>把手感数据集中到配置资产，方便反复调参。</a:t>
            </a:r>
          </a:p>
        </p:txBody>
      </p:sp>
    </p:spTree>
    <p:extLst>
      <p:ext uri="{BB962C8B-B14F-4D97-AF65-F5344CB8AC3E}">
        <p14:creationId xmlns:p14="http://schemas.microsoft.com/office/powerpoint/2010/main" val="2614026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AD8596-845F-48E0-BDDB-9D312E8E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4EEFB-9CBF-4BDC-9B0C-5AE38C35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PrototypePhase04FirstPlayableLevelSceneBuilder.cs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74ADB-6C40-4ECD-B8A3-7220421B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FF9"/>
                </a:solidFill>
              </a:defRPr>
            </a:pPr>
            <a:r>
              <a:t>关卡生成与灰盒设计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ACF6D-ACBB-45B9-BA29-F042C078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9D325-42B1-4444-BD45-F9AC4196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07181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1C191-D4E6-4A99-A548-E59994A5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292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2FF24-39C1-489B-9864-97E5AB48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9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E6C8"/>
                </a:solidFill>
              </a:defRPr>
            </a:pPr>
            <a:r>
              <a:t>BuildScene() / runtime graybox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7A67B-8393-410A-A38E-645485A4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9900" cy="516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private void BuildScene()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GameObject player = CreatePlayer();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Camera cameraToUse = CreateCamera(player.transform);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CreateRoute(sprite);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CreateDashAbilityPickup(sprite, new Vector2(2.5f, -2.25f));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CreateDoubleJumpAbilityPickup(sprite, new Vector2(31f, -0.45f));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CreateCheckpoint(sprite, "Checkpoint_FirstShrine", new Vector2(46f, -0.75f));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CreateGoal(sprite, new Vector2(88f, 3f));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CreateRespawnZone();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C9EFE-D163-4D9E-A288-2CF13CDC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D342F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AF193-89D6-4389-BBE7-03AEBAD3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FF9"/>
                </a:solidFill>
              </a:defRPr>
            </a:pPr>
            <a:r>
              <a:t>起点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3BA68-1E2D-4227-9E2B-117217C0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7BEE0-2E24-4612-87C9-1DC9A426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FF9"/>
                </a:solidFill>
              </a:defRPr>
            </a:pPr>
            <a:r>
              <a:t>短跳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A49DF-6DF6-4EA6-919A-8E26CEB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DAD09-A9FF-4C57-B114-5BAB2060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8FFF9"/>
                </a:solidFill>
              </a:defRPr>
            </a:pPr>
            <a:r>
              <a:t>分支收集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3E2B8-CC39-4185-93B6-787695CE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5BA6B"/>
                </a:solidFill>
              </a:defRPr>
            </a:pPr>
            <a:r>
              <a:t>检查点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624EE-CD9C-4B29-9819-9CC5DDEA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A6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68274-5D3C-42BF-AA39-DD35ED64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5BA6B"/>
                </a:solidFill>
              </a:defRPr>
            </a:pPr>
            <a:r>
              <a:t>上升平台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B8E62-A0D8-4D70-BAD7-DF3F250A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A6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7A62B-91B6-49FC-97D6-EFB730C4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5BA6B"/>
                </a:solidFill>
              </a:defRPr>
            </a:pPr>
            <a:r>
              <a:t>终点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9F21B-CCF6-4AEB-887C-A1EEA50D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F1E8"/>
                </a:solidFill>
              </a:defRPr>
            </a:pPr>
            <a:r>
              <a:t>灰盒先验证路线节奏：主路、可选路线、失败复位都能被快速调整。</a:t>
            </a:r>
          </a:p>
        </p:txBody>
      </p:sp>
    </p:spTree>
    <p:extLst>
      <p:ext uri="{BB962C8B-B14F-4D97-AF65-F5344CB8AC3E}">
        <p14:creationId xmlns:p14="http://schemas.microsoft.com/office/powerpoint/2010/main" val="1976665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740CF1-C1BD-417B-8205-8C6BC5C0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36395-9552-4715-AEEF-DBFDE832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PlayerAbilityInventory2D.cs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A9766-B42C-415B-87BD-F0953E7F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FF9"/>
                </a:solidFill>
              </a:defRPr>
            </a:pPr>
            <a:r>
              <a:t>能力与交互系统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9C8C2-82D1-4984-8EF8-5A910013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53bb1f62449c8"/>
          <a:stretch xmlns:a="http://schemas.openxmlformats.org/drawingml/2006/main"/>
        </p:blipFill>
        <p:spPr>
          <a:xfrm xmlns:a="http://schemas.openxmlformats.org/drawingml/2006/main">
            <a:off x="0" y="0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5868472074ad6"/>
          <a:stretch xmlns:a="http://schemas.openxmlformats.org/drawingml/2006/main"/>
        </p:blipFill>
        <p:spPr>
          <a:xfrm xmlns:a="http://schemas.openxmlformats.org/drawingml/2006/main">
            <a:off x="0" y="0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33e424899413b"/>
          <a:stretch xmlns:a="http://schemas.openxmlformats.org/drawingml/2006/main"/>
        </p:blipFill>
        <p:spPr>
          <a:xfrm xmlns:a="http://schemas.openxmlformats.org/drawingml/2006/main">
            <a:off x="0" y="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01A1E-E845-4C21-BD15-91A44C85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07181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C9F6B-FE09-4573-8888-FD4E3D9C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292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D396E-BDA0-41CA-8A87-A5A268FB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9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E6C8"/>
                </a:solidFill>
              </a:defRPr>
            </a:pPr>
            <a:r>
              <a:t>Unlock ability / notify HUD + route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DEE63-9962-441E-8211-86CD315E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9900" cy="516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public void UnlockDash()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if (dashUnlocked) return;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dashUnlocked = true;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savedDashUnlocked = true;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Debug.Log("Ability unlocked: Air Dash");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NotifyAbilitiesChanged();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public void UnlockDoubleJump()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if (doubleJumpUnlocked) return;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doubleJumpUnlocked = true;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savedDoubleJumpUnlocked = true;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NotifyAbilitiesChanged();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AB8FC-8EB4-45E6-B4DD-7B6AB150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6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8FFF9"/>
                </a:solidFill>
              </a:defRPr>
            </a:pPr>
            <a:r>
              <a:t>能力解锁让关卡出现新的通过方式。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4683E-B1D6-4794-97E2-3B592123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8F9ED-39B0-450C-B40E-51075DFB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Dash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ACB8D-2515-488B-AE44-2E0F6FAC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90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3B6B6-CF79-4E19-81AA-41007183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4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Double Jump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C30BA-5E2D-48D3-85C0-1CB2D3E8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CDB33-55CC-433D-AAB0-926E96DE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Shard Gate</a:t>
            </a:r>
          </a:p>
        </p:txBody>
      </p:sp>
    </p:spTree>
    <p:extLst>
      <p:ext uri="{BB962C8B-B14F-4D97-AF65-F5344CB8AC3E}">
        <p14:creationId xmlns:p14="http://schemas.microsoft.com/office/powerpoint/2010/main" val="1261969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F975D-720C-4A87-BA80-EF79909A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CB6CE-FE4A-4602-BEC9-FD4B39AD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GameplayHud2D.cs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F626B-91C8-434D-AA13-B5CE898C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FF9"/>
                </a:solidFill>
              </a:defRPr>
            </a:pPr>
            <a:r>
              <a:t>HUD 与反馈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CEC4E-8600-4493-BFBE-F9E76A6A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c389741f74780"/>
          <a:stretch xmlns:a="http://schemas.openxmlformats.org/drawingml/2006/main"/>
        </p:blipFill>
        <p:spPr>
          <a:xfrm xmlns:a="http://schemas.openxmlformats.org/drawingml/2006/main">
            <a:off x="0" y="0"/>
            <a:ext cx="7239000" cy="28575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9c7a54fe9402b"/>
          <a:stretch xmlns:a="http://schemas.openxmlformats.org/drawingml/2006/main"/>
        </p:blipFill>
        <p:spPr>
          <a:xfrm xmlns:a="http://schemas.openxmlformats.org/drawingml/2006/main">
            <a:off x="0" y="0"/>
            <a:ext cx="1428750" cy="14287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7906971cf42f9"/>
          <a:stretch xmlns:a="http://schemas.openxmlformats.org/drawingml/2006/main"/>
        </p:blipFill>
        <p:spPr>
          <a:xfrm xmlns:a="http://schemas.openxmlformats.org/drawingml/2006/main">
            <a:off x="0" y="0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2b4e5423f46bd"/>
          <a:stretch xmlns:a="http://schemas.openxmlformats.org/drawingml/2006/main"/>
        </p:blipFill>
        <p:spPr>
          <a:xfrm xmlns:a="http://schemas.openxmlformats.org/drawingml/2006/main">
            <a:off x="0" y="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DFC96-C440-48CD-9157-E3F1E6A2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7181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77ECB-CBE7-4C16-AF97-59EE97D2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292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30F46-7925-414E-A398-93F4DE8D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420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E6C8"/>
                </a:solidFill>
              </a:defRPr>
            </a:pPr>
            <a:r>
              <a:t>GameplayHud2D.cs / sprite resources + refresh 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82316-23F4-4E98-8D06-338FED80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43900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private void Awake()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hudPanelSprite = LoadSprite("UI/HudPanel");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healthLotusSprite = LoadSprite("UI/TopLeftLifeLotus");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abilitySlotUnlockedSprite = LoadSprite("UI/AbilitySlotUnlocked");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abilitySlotLockedSprite = LoadSprite("UI/AbilitySlotLocked");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BuildHud();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public void Configure(PlayerAbilityInventory2D abilityInventory,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PlayerHealth2D playerHealth)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abilities.AbilitiesChanged += RefreshAbilities;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health.HealthChanged += HandleHealthChanged;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83D3D-9718-4CF0-B0AC-2059C99C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14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8FFF9"/>
                </a:solidFill>
              </a:defRPr>
            </a:pPr>
            <a:r>
              <a:t>UI 负责把生命、能力、暂停和提示反馈可视化。</a:t>
            </a:r>
          </a:p>
        </p:txBody>
      </p:sp>
    </p:spTree>
    <p:extLst>
      <p:ext uri="{BB962C8B-B14F-4D97-AF65-F5344CB8AC3E}">
        <p14:creationId xmlns:p14="http://schemas.microsoft.com/office/powerpoint/2010/main" val="4010841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91832C-8719-4133-A96E-C8002B1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C0AB7-1565-44B4-9934-20DF4B2F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MonsterLobber2D.cs / WideFallingStoneTrap2D.cs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4CD7E-D500-4D78-8167-78EB22D6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FF9"/>
                </a:solidFill>
              </a:defRPr>
            </a:pPr>
            <a:r>
              <a:t>敌人与机关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2FB4D-9F2F-4436-B4C9-214F6C30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9f857530547d1"/>
          <a:stretch xmlns:a="http://schemas.openxmlformats.org/drawingml/2006/main"/>
        </p:blipFill>
        <p:spPr>
          <a:xfrm xmlns:a="http://schemas.openxmlformats.org/drawingml/2006/main">
            <a:off x="0" y="0"/>
            <a:ext cx="6000750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7DE04-00E7-4382-87CC-F9F263B9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561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7181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EFEBB-6103-4025-92A0-110B6C3E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292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7AC26-0C1E-457D-92BA-FE2E60A4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76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E6C8"/>
                </a:solidFill>
              </a:defRPr>
            </a:pPr>
            <a:r>
              <a:t>MonsterLobber2D.cs / lob attack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C8827-9CF9-4DC1-B02F-B98CB908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497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private void Update()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if (Mathf.Abs(target.position.x - transform.position.x) &gt; attackRangeX)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return;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fireTimer -= Time.deltaTime;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if (fireTimer &gt; 0f) return;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fireTimer = fireInterval;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FireAtTarget();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private Vector2 CalculateLobVelocity(Vector2 start, Vector2 end)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float apexY = Mathf.Max(start.y, end.y) + arcHeight;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float totalTime = upTime + downTime;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return new Vector2((end.x - start.x) / totalTime, gravity * upTime);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8FB78-6F41-40D7-BC82-A892A544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5619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7181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76995-9F3D-4938-994D-167FB944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33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B2925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BA354-634D-4F9F-991B-B48C2A35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90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E6C8"/>
                </a:solidFill>
              </a:defRPr>
            </a:pPr>
            <a:r>
              <a:t>WideFallingStoneTrap2D.cs / state machine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679A5-FB7B-4E7A-8D53-4508FC6A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914650" cy="497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private void Update()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switch (state)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{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case TrapState.Armed: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    if (PlayerInTriggerArea()) state = TrapState.Warning;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    break;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case TrapState.Dropping: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    MoveToward(DroppedPosition(), fallSpeed);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    break;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case TrapState.Resetting: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    MoveToward(startPosition, resetSpeed);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        break;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D7FFF2"/>
                </a:solidFill>
              </a:defRPr>
            </a:pPr>
            <a: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BDB79-7EFB-4CE6-A40B-851FA6F8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92587-0107-4C86-8946-DA0377CE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范围检测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9D79E-BB57-4A83-9875-860B3448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A45BE-304F-4577-A51C-0DE09A7E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抛物线攻击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884CE-4CE4-4695-8058-4E15777E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198B6-5F69-4732-9043-635C772F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1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陷阱触发</a:t>
            </a:r>
          </a:p>
        </p:txBody>
      </p:sp>
    </p:spTree>
    <p:extLst>
      <p:ext uri="{BB962C8B-B14F-4D97-AF65-F5344CB8AC3E}">
        <p14:creationId xmlns:p14="http://schemas.microsoft.com/office/powerpoint/2010/main" val="175113060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884A06-A97A-47E2-8D76-A0C84C9B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c3419bde24456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48723-554F-4E29-B911-A3FCA498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C19">
              <a:alpha val="34000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997F9-B8BA-41CE-BC48-5C55F816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8FFF9"/>
                </a:solidFill>
              </a:defRPr>
            </a:pPr>
            <a:r>
              <a:t>美术资产与氛围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E0752-0264-4621-A94C-624A896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F1E8"/>
                </a:solidFill>
              </a:defRPr>
            </a:pPr>
            <a:r>
              <a:t>用玉色、遗迹、森林和水墨雾感建立中式神话氛围。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be4414a9b41fe"/>
          <a:stretch xmlns:a="http://schemas.openxmlformats.org/drawingml/2006/main"/>
        </p:blipFill>
        <p:spPr>
          <a:xfrm xmlns:a="http://schemas.openxmlformats.org/drawingml/2006/main">
            <a:off x="0" y="0"/>
            <a:ext cx="2476500" cy="17145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2eda90c74462d"/>
          <a:stretch xmlns:a="http://schemas.openxmlformats.org/drawingml/2006/main"/>
        </p:blipFill>
        <p:spPr>
          <a:xfrm xmlns:a="http://schemas.openxmlformats.org/drawingml/2006/main">
            <a:off x="0" y="0"/>
            <a:ext cx="2952750" cy="17145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2aaedf6e143df"/>
          <a:stretch xmlns:a="http://schemas.openxmlformats.org/drawingml/2006/main"/>
        </p:blipFill>
        <p:spPr>
          <a:xfrm xmlns:a="http://schemas.openxmlformats.org/drawingml/2006/main">
            <a:off x="0" y="0"/>
            <a:ext cx="3429000" cy="1524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471fa9dab4a5e"/>
          <a:stretch xmlns:a="http://schemas.openxmlformats.org/drawingml/2006/main"/>
        </p:blipFill>
        <p:spPr>
          <a:xfrm xmlns:a="http://schemas.openxmlformats.org/drawingml/2006/main">
            <a:off x="0" y="0"/>
            <a:ext cx="2762250" cy="152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407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125764-14A2-430C-8E3F-01A97562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F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BDD7D-70E9-457E-9F57-FCAC01C6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E6C8"/>
                </a:solidFill>
              </a:defRPr>
            </a:pPr>
            <a:r>
              <a:t>DELIVERABLES +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14CCF-4566-4F6F-A91D-ED8AE684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04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8FFF9"/>
                </a:solidFill>
              </a:defRPr>
            </a:pPr>
            <a:r>
              <a:t>总结与下一步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40772-ED7B-4750-B440-62F99930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E6C8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C604B-9425-4C71-A531-3C683C9C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5E6C8"/>
                </a:solidFill>
              </a:defRPr>
            </a:pPr>
            <a: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73C11-033B-4F42-9394-9AEECB17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71891-969D-4297-BBEC-4FE10F87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可玩场景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E1C22-473D-406F-8585-710D97D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757C0-21D9-4740-B3E1-CACFA504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移动手感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D866A-098B-4957-8021-ECC30F45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6FE6F-3FA7-472E-BE7C-1408FE7A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能力交互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DEFEF-F725-41EF-8938-C1CD5ACC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C4EA7-8927-4345-9CB0-A33B19E2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3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HUD / 美术 / 音频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1B510-7714-441B-9AB3-6EE5B1E8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5D5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40A34-F83D-4FCA-B21D-D558A5A4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5BA6B"/>
                </a:solidFill>
              </a:defRPr>
            </a:pPr>
            <a:r>
              <a:t>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1DC68-521A-4608-8A2F-8B37C52E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00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0C4EF-CA2E-4794-8998-6E0D924A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正式地图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18E4D-91DF-4131-8578-C2114D62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681C8-C39B-4E26-82B9-414A6D32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存档系统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0FE44C-448C-4707-ACAD-60B2DD23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3833"/>
          </a:solidFill>
          <a:ln xmlns:a="http://schemas.openxmlformats.org/drawingml/2006/main" w="9525">
            <a:solidFill>
              <a:srgbClr val="1C5D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C9224-BF60-4FE8-B042-2E5FABE9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FF9"/>
                </a:solidFill>
              </a:defRPr>
            </a:pPr>
            <a:r>
              <a:t>更多敌人与能力回访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faba69cbe46ef"/>
          <a:stretch xmlns:a="http://schemas.openxmlformats.org/drawingml/2006/main"/>
        </p:blipFill>
        <p:spPr>
          <a:xfrm xmlns:a="http://schemas.openxmlformats.org/drawingml/2006/main">
            <a:off x="0" y="0"/>
            <a:ext cx="2857500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57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2026-06-04T02:34:17.9000000Z</dcterms:created>
  <dcterms:modified xsi:type="dcterms:W3CDTF">2026-06-04T02:34:17.9000000Z</dcterms:modified>
</coreProperties>
</file>